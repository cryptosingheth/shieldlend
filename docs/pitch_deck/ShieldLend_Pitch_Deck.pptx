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58d13da1744929" /><Relationship Type="http://schemas.openxmlformats.org/officeDocument/2006/relationships/extended-properties" Target="/docProps/app.xml" Id="R74283b2637ef443a" /><Relationship Type="http://schemas.openxmlformats.org/officeDocument/2006/relationships/officeDocument" Target="/ppt/presentation.xml" Id="Rb7c14428898b4a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3212b2bb594893"/>
  </p:sldMasterIdLst>
  <p:notesMasterIdLst>
    <p:notesMasterId xmlns:r="http://schemas.openxmlformats.org/officeDocument/2006/relationships" r:id="Ra12d1b0ea13e40b8"/>
  </p:notesMasterIdLst>
  <p:sldIdLst>
    <p:sldId xmlns:r="http://schemas.openxmlformats.org/officeDocument/2006/relationships" id="256" r:id="R955ec99ed3f14791"/>
    <p:sldId xmlns:r="http://schemas.openxmlformats.org/officeDocument/2006/relationships" id="257" r:id="R85bd1fedc13c4c0b"/>
    <p:sldId xmlns:r="http://schemas.openxmlformats.org/officeDocument/2006/relationships" id="258" r:id="Rff84a5f0c6a74d8a"/>
    <p:sldId xmlns:r="http://schemas.openxmlformats.org/officeDocument/2006/relationships" id="259" r:id="Re142aa66ea0a45eb"/>
    <p:sldId xmlns:r="http://schemas.openxmlformats.org/officeDocument/2006/relationships" id="260" r:id="R6b9d677105734443"/>
    <p:sldId xmlns:r="http://schemas.openxmlformats.org/officeDocument/2006/relationships" id="261" r:id="Rf6f7c667ad0b4465"/>
    <p:sldId xmlns:r="http://schemas.openxmlformats.org/officeDocument/2006/relationships" id="262" r:id="R2857b2ad55d644e3"/>
    <p:sldId xmlns:r="http://schemas.openxmlformats.org/officeDocument/2006/relationships" id="263" r:id="R6a621e59b5c54e70"/>
    <p:sldId xmlns:r="http://schemas.openxmlformats.org/officeDocument/2006/relationships" id="264" r:id="R06700af0cd7b437b"/>
    <p:sldId xmlns:r="http://schemas.openxmlformats.org/officeDocument/2006/relationships" id="265" r:id="R7158e337b28e41f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212b2bb594893" /><Relationship Type="http://schemas.openxmlformats.org/officeDocument/2006/relationships/theme" Target="/ppt/theme/theme1.xml" Id="Rd95b247e5a414608" /><Relationship Type="http://schemas.openxmlformats.org/officeDocument/2006/relationships/notesMaster" Target="/ppt/notesMasters/notesMaster1.xml" Id="Ra12d1b0ea13e40b8" /><Relationship Type="http://schemas.openxmlformats.org/officeDocument/2006/relationships/presProps" Target="/ppt/presProps.xml" Id="R28d21ddc92374ac4" /><Relationship Type="http://schemas.openxmlformats.org/officeDocument/2006/relationships/viewProps" Target="/ppt/viewProps.xml" Id="Rbb5ebc0f466147b3" /><Relationship Type="http://schemas.openxmlformats.org/officeDocument/2006/relationships/tableStyles" Target="/ppt/tableStyles.xml" Id="R36df3da6a2c14cbb" /><Relationship Type="http://schemas.openxmlformats.org/officeDocument/2006/relationships/slide" Target="/ppt/slides/slide1.xml" Id="R955ec99ed3f14791" /><Relationship Type="http://schemas.openxmlformats.org/officeDocument/2006/relationships/slide" Target="/ppt/slides/slide2.xml" Id="R85bd1fedc13c4c0b" /><Relationship Type="http://schemas.openxmlformats.org/officeDocument/2006/relationships/slide" Target="/ppt/slides/slide3.xml" Id="Rff84a5f0c6a74d8a" /><Relationship Type="http://schemas.openxmlformats.org/officeDocument/2006/relationships/slide" Target="/ppt/slides/slide4.xml" Id="Re142aa66ea0a45eb" /><Relationship Type="http://schemas.openxmlformats.org/officeDocument/2006/relationships/slide" Target="/ppt/slides/slide5.xml" Id="R6b9d677105734443" /><Relationship Type="http://schemas.openxmlformats.org/officeDocument/2006/relationships/slide" Target="/ppt/slides/slide6.xml" Id="Rf6f7c667ad0b4465" /><Relationship Type="http://schemas.openxmlformats.org/officeDocument/2006/relationships/slide" Target="/ppt/slides/slide7.xml" Id="R2857b2ad55d644e3" /><Relationship Type="http://schemas.openxmlformats.org/officeDocument/2006/relationships/slide" Target="/ppt/slides/slide8.xml" Id="R6a621e59b5c54e70" /><Relationship Type="http://schemas.openxmlformats.org/officeDocument/2006/relationships/slide" Target="/ppt/slides/slide9.xml" Id="R06700af0cd7b437b" /><Relationship Type="http://schemas.openxmlformats.org/officeDocument/2006/relationships/slide" Target="/ppt/slides/slide10.xml" Id="R7158e337b28e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48e4028004949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6eb2cdf6dd4bf5" /><Relationship Type="http://schemas.openxmlformats.org/officeDocument/2006/relationships/notesMaster" Target="/ppt/notesMasters/notesMaster1.xml" Id="R707a64ce871649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690c3ca45e4309" /><Relationship Type="http://schemas.openxmlformats.org/officeDocument/2006/relationships/notesMaster" Target="/ppt/notesMasters/notesMaster1.xml" Id="R945da048d04e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eaa00489154191" /><Relationship Type="http://schemas.openxmlformats.org/officeDocument/2006/relationships/notesMaster" Target="/ppt/notesMasters/notesMaster1.xml" Id="R2dd8663e2d2d4e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10083f7ee74eb1" /><Relationship Type="http://schemas.openxmlformats.org/officeDocument/2006/relationships/notesMaster" Target="/ppt/notesMasters/notesMaster1.xml" Id="Re10ccacda2464b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9aed04287a40cd" /><Relationship Type="http://schemas.openxmlformats.org/officeDocument/2006/relationships/notesMaster" Target="/ppt/notesMasters/notesMaster1.xml" Id="R945bd442d65e4b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5e8a07320a4950" /><Relationship Type="http://schemas.openxmlformats.org/officeDocument/2006/relationships/notesMaster" Target="/ppt/notesMasters/notesMaster1.xml" Id="R892135ee172240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4f76dede6545b0" /><Relationship Type="http://schemas.openxmlformats.org/officeDocument/2006/relationships/notesMaster" Target="/ppt/notesMasters/notesMaster1.xml" Id="R9aa64af320764a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9d583fe9174c54" /><Relationship Type="http://schemas.openxmlformats.org/officeDocument/2006/relationships/notesMaster" Target="/ppt/notesMasters/notesMaster1.xml" Id="R5eae864cbe6d4f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a9ed75f31d4d1b" /><Relationship Type="http://schemas.openxmlformats.org/officeDocument/2006/relationships/notesMaster" Target="/ppt/notesMasters/notesMaster1.xml" Id="R62b2f98a21ec4f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bfd1d708a94271" /><Relationship Type="http://schemas.openxmlformats.org/officeDocument/2006/relationships/notesMaster" Target="/ppt/notesMasters/notesMaster1.xml" Id="R8b1c3635b70f45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a2d226a934f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d0c8b887c8049a5" /><Relationship Type="http://schemas.openxmlformats.org/officeDocument/2006/relationships/slideLayout" Target="/ppt/slideLayouts/slideLayout2.xml" Id="R7115fe0515774d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5fe0515774d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7fbd91dc354865" /><Relationship Type="http://schemas.openxmlformats.org/officeDocument/2006/relationships/notesSlide" Target="/ppt/notesSlides/notesSlide1.xml" Id="R9cba89c3309041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f2398871254fbc" /><Relationship Type="http://schemas.openxmlformats.org/officeDocument/2006/relationships/notesSlide" Target="/ppt/notesSlides/notesSlide2.xml" Id="Re7e3d98aab0c4b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9f7609ed94eaa" /><Relationship Type="http://schemas.openxmlformats.org/officeDocument/2006/relationships/notesSlide" Target="/ppt/notesSlides/notesSlide3.xml" Id="Rc63d1ca8fe0d43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3fd9e0cfc24bd4" /><Relationship Type="http://schemas.openxmlformats.org/officeDocument/2006/relationships/notesSlide" Target="/ppt/notesSlides/notesSlide4.xml" Id="Rdfa053f267604d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72a2830214295" /><Relationship Type="http://schemas.openxmlformats.org/officeDocument/2006/relationships/notesSlide" Target="/ppt/notesSlides/notesSlide5.xml" Id="R578e96b7386b4d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4d4a0ce2224d24" /><Relationship Type="http://schemas.openxmlformats.org/officeDocument/2006/relationships/notesSlide" Target="/ppt/notesSlides/notesSlide6.xml" Id="Refbd8a06ba2942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b66779300b4b3f" /><Relationship Type="http://schemas.openxmlformats.org/officeDocument/2006/relationships/notesSlide" Target="/ppt/notesSlides/notesSlide7.xml" Id="R14162a3ad96448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26e47827284f6f" /><Relationship Type="http://schemas.openxmlformats.org/officeDocument/2006/relationships/notesSlide" Target="/ppt/notesSlides/notesSlide8.xml" Id="R6320dcb9726146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09590605574bdd" /><Relationship Type="http://schemas.openxmlformats.org/officeDocument/2006/relationships/notesSlide" Target="/ppt/notesSlides/notesSlide9.xml" Id="R799775d7adde4f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4721f264349b9" /><Relationship Type="http://schemas.openxmlformats.org/officeDocument/2006/relationships/notesSlide" Target="/ppt/notesSlides/notesSlide10.xml" Id="Rb9aca41af4e642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FF59BA2-451C-4C35-9BEF-0D3D0A46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A0D9816D-EDB5-4C23-89FB-F68E064C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9FE2E62-F46B-4E45-83A5-8E813340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92011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ShieldLend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F34B077E-CB42-4DF7-A5F2-D89847AB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F9F8F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0D4D129-A63F-4666-9DEB-48CCBCCB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93154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3000">
                <a:solidFill>
                  <a:srgbClr val="EAF2F8"/>
                </a:solidFill>
                <a:latin typeface="Aptos"/>
                <a:ea typeface="Aptos"/>
                <a:cs typeface="Aptos"/>
              </a:rPr>
              <a:t>Private lending on Solana without turning credit history into public surveillance.</a:t>
            </a:r>
          </a:p>
        </p:txBody>
      </p:sp>
      <p:sp>
        <p:nvSpPr>
          <p:cNvPr id="6" name="pill-ZK note ownership">
            <a:extLst xmlns:a="http://schemas.openxmlformats.org/drawingml/2006/main">
              <a:ext uri="{FF2B5EF4-FFF2-40B4-BE49-F238E27FC236}">
                <a16:creationId xmlns:a16="http://schemas.microsoft.com/office/drawing/2014/main" id="{6F8896ED-8D9E-42EE-A398-94D1441F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66750"/>
            <a:ext cx="68008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pill-text-ZK note ownership">
            <a:extLst xmlns:a="http://schemas.openxmlformats.org/drawingml/2006/main">
              <a:ext uri="{FF2B5EF4-FFF2-40B4-BE49-F238E27FC236}">
                <a16:creationId xmlns:a16="http://schemas.microsoft.com/office/drawing/2014/main" id="{B48597B5-4F4A-45F0-A345-5A91B9B1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819150"/>
            <a:ext cx="634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ZK note ownership</a:t>
            </a:r>
          </a:p>
        </p:txBody>
      </p:sp>
      <p:sp>
        <p:nvSpPr>
          <p:cNvPr id="8" name="pill-Private repay settlement">
            <a:extLst xmlns:a="http://schemas.openxmlformats.org/drawingml/2006/main">
              <a:ext uri="{FF2B5EF4-FFF2-40B4-BE49-F238E27FC236}">
                <a16:creationId xmlns:a16="http://schemas.microsoft.com/office/drawing/2014/main" id="{C0E3A98E-1F76-42BB-B9A4-F18C6DB3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371600"/>
            <a:ext cx="68008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E6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pill-text-Private repay settlement">
            <a:extLst xmlns:a="http://schemas.openxmlformats.org/drawingml/2006/main">
              <a:ext uri="{FF2B5EF4-FFF2-40B4-BE49-F238E27FC236}">
                <a16:creationId xmlns:a16="http://schemas.microsoft.com/office/drawing/2014/main" id="{27967CC7-0246-4AEB-9EDD-63DA89F9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524000"/>
            <a:ext cx="634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Private repay settlement</a:t>
            </a:r>
          </a:p>
        </p:txBody>
      </p:sp>
      <p:sp>
        <p:nvSpPr>
          <p:cNvPr id="10" name="pill-Encrypted oracle health">
            <a:extLst xmlns:a="http://schemas.openxmlformats.org/drawingml/2006/main">
              <a:ext uri="{FF2B5EF4-FFF2-40B4-BE49-F238E27FC236}">
                <a16:creationId xmlns:a16="http://schemas.microsoft.com/office/drawing/2014/main" id="{7BDE0DC3-EF08-4266-96D2-64C7BAA9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076450"/>
            <a:ext cx="68008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A63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pill-text-Encrypted oracle health">
            <a:extLst xmlns:a="http://schemas.openxmlformats.org/drawingml/2006/main">
              <a:ext uri="{FF2B5EF4-FFF2-40B4-BE49-F238E27FC236}">
                <a16:creationId xmlns:a16="http://schemas.microsoft.com/office/drawing/2014/main" id="{4BB33C24-51E9-4419-BFCC-138A5529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228850"/>
            <a:ext cx="634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Encrypted oracle health</a:t>
            </a:r>
          </a:p>
        </p:txBody>
      </p:sp>
      <p:sp>
        <p:nvSpPr>
          <p:cNvPr id="12" name="pill-Stealth exits">
            <a:extLst xmlns:a="http://schemas.openxmlformats.org/drawingml/2006/main">
              <a:ext uri="{FF2B5EF4-FFF2-40B4-BE49-F238E27FC236}">
                <a16:creationId xmlns:a16="http://schemas.microsoft.com/office/drawing/2014/main" id="{D3BB9319-3FC3-45EC-A7AC-D5DABA6A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81300"/>
            <a:ext cx="68008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3A6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pill-text-Stealth exits">
            <a:extLst xmlns:a="http://schemas.openxmlformats.org/drawingml/2006/main">
              <a:ext uri="{FF2B5EF4-FFF2-40B4-BE49-F238E27FC236}">
                <a16:creationId xmlns:a16="http://schemas.microsoft.com/office/drawing/2014/main" id="{BB09CB0A-5E58-4984-BEDA-AD34BACE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933700"/>
            <a:ext cx="634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Stealth exits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AFFD3C30-DA68-43A4-9504-F6438336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67850"/>
            <a:ext cx="920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8C7D9"/>
                </a:solidFill>
                <a:latin typeface="Aptos"/>
                <a:ea typeface="Aptos"/>
                <a:cs typeface="Aptos"/>
              </a:rPr>
              <a:t>Colosseum Frontier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8493003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D9B402F-648F-40F4-81BB-EFFBBC54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85CB7847-206D-4E02-BF3B-94C5F7E0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0FE118-980E-4453-9200-F4D02741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8775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DeFi lending is transparent in the wrong places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7D5C92D8-7FF0-4877-8581-A718906D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depositor wallet and timing</a:t>
            </a:r>
          </a:p>
        </p:txBody>
      </p:sp>
      <p:sp>
        <p:nvSpPr>
          <p:cNvPr id="5" name="bullet-2">
            <a:extLst xmlns:a="http://schemas.openxmlformats.org/drawingml/2006/main">
              <a:ext uri="{FF2B5EF4-FFF2-40B4-BE49-F238E27FC236}">
                <a16:creationId xmlns:a16="http://schemas.microsoft.com/office/drawing/2014/main" id="{427996BC-9769-4F26-A551-0C470B8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borrower wallet and loan size</a:t>
            </a:r>
          </a:p>
        </p:txBody>
      </p:sp>
      <p:sp>
        <p:nvSpPr>
          <p:cNvPr id="6" name="bullet-3">
            <a:extLst xmlns:a="http://schemas.openxmlformats.org/drawingml/2006/main">
              <a:ext uri="{FF2B5EF4-FFF2-40B4-BE49-F238E27FC236}">
                <a16:creationId xmlns:a16="http://schemas.microsoft.com/office/drawing/2014/main" id="{81A9A07A-51DB-48F9-A718-0B348358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repayment event and amount</a:t>
            </a:r>
          </a:p>
        </p:txBody>
      </p:sp>
      <p:sp>
        <p:nvSpPr>
          <p:cNvPr id="7" name="bullet-4">
            <a:extLst xmlns:a="http://schemas.openxmlformats.org/drawingml/2006/main">
              <a:ext uri="{FF2B5EF4-FFF2-40B4-BE49-F238E27FC236}">
                <a16:creationId xmlns:a16="http://schemas.microsoft.com/office/drawing/2014/main" id="{0C716B7A-DA3E-4E32-820F-B1BCB638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withdrawal destination</a:t>
            </a:r>
          </a:p>
        </p:txBody>
      </p:sp>
      <p:sp>
        <p:nvSpPr>
          <p:cNvPr id="8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9FB4C707-6420-4343-9263-4A89BFF8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33600"/>
            <a:ext cx="8096250" cy="70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result is a permanent public credit profile. That is not acceptable for institutions, treasuries, payroll users, or privacy-sensitive individuals.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985D9ED-EDD1-4CF3-A9A2-8A01813E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67850"/>
            <a:ext cx="16687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</p:spTree>
    <p:extLst>
      <p:ext uri="{BB962C8B-B14F-4D97-AF65-F5344CB8AC3E}">
        <p14:creationId xmlns:p14="http://schemas.microsoft.com/office/powerpoint/2010/main" val="2070105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6B00C46-2669-4479-89F0-FFDDD96B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F0A0F155-93C6-44B5-B357-ADE0BAE6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EB9DD0-6A70-4CBD-A6D8-A0451742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privacy primitive is not enough</a:t>
            </a:r>
          </a:p>
        </p:txBody>
      </p:sp>
      <p:sp>
        <p:nvSpPr>
          <p:cNvPr id="4" name="pill-Mixers&#10;no lending state">
            <a:extLst xmlns:a="http://schemas.openxmlformats.org/drawingml/2006/main">
              <a:ext uri="{FF2B5EF4-FFF2-40B4-BE49-F238E27FC236}">
                <a16:creationId xmlns:a16="http://schemas.microsoft.com/office/drawing/2014/main" id="{BBE5F43B-F909-48ED-BCD4-94EDA028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4014788" cy="6248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34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pill-text-Mixers&#10;no lending state">
            <a:extLst xmlns:a="http://schemas.openxmlformats.org/drawingml/2006/main">
              <a:ext uri="{FF2B5EF4-FFF2-40B4-BE49-F238E27FC236}">
                <a16:creationId xmlns:a16="http://schemas.microsoft.com/office/drawing/2014/main" id="{909AD6A0-B320-4F8B-9715-25385DA7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3562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Mixers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lending state</a:t>
            </a:r>
          </a:p>
        </p:txBody>
      </p:sp>
      <p:sp>
        <p:nvSpPr>
          <p:cNvPr id="6" name="pill-Stealth addresses&#10;hide destination only">
            <a:extLst xmlns:a="http://schemas.openxmlformats.org/drawingml/2006/main">
              <a:ext uri="{FF2B5EF4-FFF2-40B4-BE49-F238E27FC236}">
                <a16:creationId xmlns:a16="http://schemas.microsoft.com/office/drawing/2014/main" id="{2D36C140-CCA0-4F20-8006-FAFCB508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1562100"/>
            <a:ext cx="4014788" cy="6248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4C4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pill-text-Stealth addresses&#10;hide destination only">
            <a:extLst xmlns:a="http://schemas.openxmlformats.org/drawingml/2006/main">
              <a:ext uri="{FF2B5EF4-FFF2-40B4-BE49-F238E27FC236}">
                <a16:creationId xmlns:a16="http://schemas.microsoft.com/office/drawing/2014/main" id="{6EDDE24E-1465-4E9F-AC47-E898DEB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14500"/>
            <a:ext cx="3562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Stealth addresses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hide destination only</a:t>
            </a:r>
          </a:p>
        </p:txBody>
      </p:sp>
      <p:sp>
        <p:nvSpPr>
          <p:cNvPr id="8" name="pill-ZK proofs&#10;do not hide public transfers">
            <a:extLst xmlns:a="http://schemas.openxmlformats.org/drawingml/2006/main">
              <a:ext uri="{FF2B5EF4-FFF2-40B4-BE49-F238E27FC236}">
                <a16:creationId xmlns:a16="http://schemas.microsoft.com/office/drawing/2014/main" id="{911D05D2-425D-4DD1-9043-497410E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562100"/>
            <a:ext cx="4014788" cy="6248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2D1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pill-text-ZK proofs&#10;do not hide public transfers">
            <a:extLst xmlns:a="http://schemas.openxmlformats.org/drawingml/2006/main">
              <a:ext uri="{FF2B5EF4-FFF2-40B4-BE49-F238E27FC236}">
                <a16:creationId xmlns:a16="http://schemas.microsoft.com/office/drawing/2014/main" id="{3FF8CD3C-44D5-437F-9584-A2FA3304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14500"/>
            <a:ext cx="3562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ZK proofs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 hide public transfers</a:t>
            </a:r>
          </a:p>
        </p:txBody>
      </p:sp>
      <p:sp>
        <p:nvSpPr>
          <p:cNvPr id="10" name="pill-FHE&#10;not address privacy">
            <a:extLst xmlns:a="http://schemas.openxmlformats.org/drawingml/2006/main">
              <a:ext uri="{FF2B5EF4-FFF2-40B4-BE49-F238E27FC236}">
                <a16:creationId xmlns:a16="http://schemas.microsoft.com/office/drawing/2014/main" id="{D9B585FB-385F-4D06-857F-E8A0CD89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113" y="1562100"/>
            <a:ext cx="4014788" cy="6248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245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pill-text-FHE&#10;not address privacy">
            <a:extLst xmlns:a="http://schemas.openxmlformats.org/drawingml/2006/main">
              <a:ext uri="{FF2B5EF4-FFF2-40B4-BE49-F238E27FC236}">
                <a16:creationId xmlns:a16="http://schemas.microsoft.com/office/drawing/2014/main" id="{99233DC5-7113-4CF1-BF2D-2C584317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1714500"/>
            <a:ext cx="3562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FHE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address privacy</a:t>
            </a:r>
          </a:p>
        </p:txBody>
      </p:sp>
      <p:sp>
        <p:nvSpPr>
          <p:cNvPr id="12" name="claim">
            <a:extLst xmlns:a="http://schemas.openxmlformats.org/drawingml/2006/main">
              <a:ext uri="{FF2B5EF4-FFF2-40B4-BE49-F238E27FC236}">
                <a16:creationId xmlns:a16="http://schemas.microsoft.com/office/drawing/2014/main" id="{6AF6F39D-A3BC-429C-8D71-028485AF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120586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2850">
                <a:solidFill>
                  <a:srgbClr val="EAF2F8"/>
                </a:solidFill>
                <a:latin typeface="Aptos"/>
                <a:ea typeface="Aptos"/>
                <a:cs typeface="Aptos"/>
              </a:rPr>
              <a:t>ShieldLend composes execution privacy, ZK ownership, private payments, encrypted oracle state, and stealth exits into one lending workflow.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C357DF0-9DBD-4135-B911-1CAD4CB9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67850"/>
            <a:ext cx="16687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7890A6"/>
                </a:solidFill>
                <a:latin typeface="Aptos"/>
                <a:ea typeface="Aptos"/>
                <a:cs typeface="Aptos"/>
              </a:rPr>
              <a:t>Architecture thesis</a:t>
            </a:r>
          </a:p>
        </p:txBody>
      </p:sp>
    </p:spTree>
    <p:extLst>
      <p:ext uri="{BB962C8B-B14F-4D97-AF65-F5344CB8AC3E}">
        <p14:creationId xmlns:p14="http://schemas.microsoft.com/office/powerpoint/2010/main" val="16836915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F1C712E-EB26-4A05-86F5-99ABCFA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FFD87572-5776-41A1-A300-197B867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4C9720-72C0-4ECF-ACC3-F3745D4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 privacy stack with distinct jobs</a:t>
            </a:r>
          </a:p>
        </p:txBody>
      </p:sp>
      <p:sp>
        <p:nvSpPr>
          <p:cNvPr id="4" name="name-0">
            <a:extLst xmlns:a="http://schemas.openxmlformats.org/drawingml/2006/main">
              <a:ext uri="{FF2B5EF4-FFF2-40B4-BE49-F238E27FC236}">
                <a16:creationId xmlns:a16="http://schemas.microsoft.com/office/drawing/2014/main" id="{DA0DE4DF-BFB8-4996-9D85-6B2429D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IKA dWallet</a:t>
            </a:r>
          </a:p>
        </p:txBody>
      </p:sp>
      <p:sp>
        <p:nvSpPr>
          <p:cNvPr id="5" name="role-0">
            <a:extLst xmlns:a="http://schemas.openxmlformats.org/drawingml/2006/main">
              <a:ext uri="{FF2B5EF4-FFF2-40B4-BE49-F238E27FC236}">
                <a16:creationId xmlns:a16="http://schemas.microsoft.com/office/drawing/2014/main" id="{2D7AB903-7B1C-4D1C-BD37-60B5742E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66850"/>
            <a:ext cx="1207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Relay authorization; no single operator key</a:t>
            </a:r>
          </a:p>
        </p:txBody>
      </p:sp>
      <p:sp>
        <p:nvSpPr>
          <p:cNvPr id="6" name="name-1">
            <a:extLst xmlns:a="http://schemas.openxmlformats.org/drawingml/2006/main">
              <a:ext uri="{FF2B5EF4-FFF2-40B4-BE49-F238E27FC236}">
                <a16:creationId xmlns:a16="http://schemas.microsoft.com/office/drawing/2014/main" id="{4694C01B-1FBD-4718-B7C2-FB6FD96F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MagicBlock PER</a:t>
            </a:r>
          </a:p>
        </p:txBody>
      </p:sp>
      <p:sp>
        <p:nvSpPr>
          <p:cNvPr id="7" name="role-1">
            <a:extLst xmlns:a="http://schemas.openxmlformats.org/drawingml/2006/main">
              <a:ext uri="{FF2B5EF4-FFF2-40B4-BE49-F238E27FC236}">
                <a16:creationId xmlns:a16="http://schemas.microsoft.com/office/drawing/2014/main" id="{323C4D4F-AF63-46AB-B538-E8BEEEDF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66900"/>
            <a:ext cx="1207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Deposit and exit timing unlinkability</a:t>
            </a:r>
          </a:p>
        </p:txBody>
      </p:sp>
      <p:sp>
        <p:nvSpPr>
          <p:cNvPr id="8" name="name-2">
            <a:extLst xmlns:a="http://schemas.openxmlformats.org/drawingml/2006/main">
              <a:ext uri="{FF2B5EF4-FFF2-40B4-BE49-F238E27FC236}">
                <a16:creationId xmlns:a16="http://schemas.microsoft.com/office/drawing/2014/main" id="{3A094571-80F8-4732-AB25-8F6D58F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Groth16 circuits</a:t>
            </a:r>
          </a:p>
        </p:txBody>
      </p:sp>
      <p:sp>
        <p:nvSpPr>
          <p:cNvPr id="9" name="role-2">
            <a:extLst xmlns:a="http://schemas.openxmlformats.org/drawingml/2006/main">
              <a:ext uri="{FF2B5EF4-FFF2-40B4-BE49-F238E27FC236}">
                <a16:creationId xmlns:a16="http://schemas.microsoft.com/office/drawing/2014/main" id="{113BBD22-A5CC-4235-9EC2-BE5643CF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1207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Note ownership and collateral checks</a:t>
            </a:r>
          </a:p>
        </p:txBody>
      </p:sp>
      <p:sp>
        <p:nvSpPr>
          <p:cNvPr id="10" name="name-3">
            <a:extLst xmlns:a="http://schemas.openxmlformats.org/drawingml/2006/main">
              <a:ext uri="{FF2B5EF4-FFF2-40B4-BE49-F238E27FC236}">
                <a16:creationId xmlns:a16="http://schemas.microsoft.com/office/drawing/2014/main" id="{1AB3CCDE-5D77-4573-822E-B6E0F20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MagicBlock Private Payments</a:t>
            </a:r>
          </a:p>
        </p:txBody>
      </p:sp>
      <p:sp>
        <p:nvSpPr>
          <p:cNvPr id="11" name="role-3">
            <a:extLst xmlns:a="http://schemas.openxmlformats.org/drawingml/2006/main">
              <a:ext uri="{FF2B5EF4-FFF2-40B4-BE49-F238E27FC236}">
                <a16:creationId xmlns:a16="http://schemas.microsoft.com/office/drawing/2014/main" id="{178F26C8-69E3-4835-A198-0992D188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67000"/>
            <a:ext cx="1207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Repayment settlement privacy</a:t>
            </a:r>
          </a:p>
        </p:txBody>
      </p:sp>
      <p:sp>
        <p:nvSpPr>
          <p:cNvPr id="12" name="name-4">
            <a:extLst xmlns:a="http://schemas.openxmlformats.org/drawingml/2006/main">
              <a:ext uri="{FF2B5EF4-FFF2-40B4-BE49-F238E27FC236}">
                <a16:creationId xmlns:a16="http://schemas.microsoft.com/office/drawing/2014/main" id="{613AC0ED-86EA-4EF8-A1FE-5313FA65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Encrypt FHE</a:t>
            </a:r>
          </a:p>
        </p:txBody>
      </p:sp>
      <p:sp>
        <p:nvSpPr>
          <p:cNvPr id="13" name="role-4">
            <a:extLst xmlns:a="http://schemas.openxmlformats.org/drawingml/2006/main">
              <a:ext uri="{FF2B5EF4-FFF2-40B4-BE49-F238E27FC236}">
                <a16:creationId xmlns:a16="http://schemas.microsoft.com/office/drawing/2014/main" id="{772D1EAE-0443-4EF3-9627-6528287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67050"/>
            <a:ext cx="1207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Encrypted oracle and health computation</a:t>
            </a:r>
          </a:p>
        </p:txBody>
      </p:sp>
      <p:sp>
        <p:nvSpPr>
          <p:cNvPr id="14" name="name-5">
            <a:extLst xmlns:a="http://schemas.openxmlformats.org/drawingml/2006/main">
              <a:ext uri="{FF2B5EF4-FFF2-40B4-BE49-F238E27FC236}">
                <a16:creationId xmlns:a16="http://schemas.microsoft.com/office/drawing/2014/main" id="{8103A1F7-0F96-439F-9DAF-94799102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Umbra</a:t>
            </a:r>
          </a:p>
        </p:txBody>
      </p:sp>
      <p:sp>
        <p:nvSpPr>
          <p:cNvPr id="15" name="role-5">
            <a:extLst xmlns:a="http://schemas.openxmlformats.org/drawingml/2006/main">
              <a:ext uri="{FF2B5EF4-FFF2-40B4-BE49-F238E27FC236}">
                <a16:creationId xmlns:a16="http://schemas.microsoft.com/office/drawing/2014/main" id="{80B92063-D84F-4481-AE09-595F6282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67100"/>
            <a:ext cx="1207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One-time output addresses and disclosure hygiene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B6E35598-3235-42E6-B1C0-0AE38472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67850"/>
            <a:ext cx="16687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Each sponsor protocol has a separate technical reason</a:t>
            </a:r>
          </a:p>
        </p:txBody>
      </p:sp>
    </p:spTree>
    <p:extLst>
      <p:ext uri="{BB962C8B-B14F-4D97-AF65-F5344CB8AC3E}">
        <p14:creationId xmlns:p14="http://schemas.microsoft.com/office/powerpoint/2010/main" val="17862161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F1E0CF2-30FA-40D3-A1DC-7E9992EF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B0FC9C7A-D806-48CD-B627-FB27324C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DBA253-1A98-4467-9DC1-9B6206D9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user journey stays simple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81A83CAE-BEA9-4FB9-99A2-73031148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2654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23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step-text-0">
            <a:extLst xmlns:a="http://schemas.openxmlformats.org/drawingml/2006/main">
              <a:ext uri="{FF2B5EF4-FFF2-40B4-BE49-F238E27FC236}">
                <a16:creationId xmlns:a16="http://schemas.microsoft.com/office/drawing/2014/main" id="{7DA6C455-546E-497E-B79F-7B7F1FC4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30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Deposit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FAAD8C14-8499-4704-A3FC-B0D86404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1562100"/>
            <a:ext cx="2654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23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step-text-1">
            <a:extLst xmlns:a="http://schemas.openxmlformats.org/drawingml/2006/main">
              <a:ext uri="{FF2B5EF4-FFF2-40B4-BE49-F238E27FC236}">
                <a16:creationId xmlns:a16="http://schemas.microsoft.com/office/drawing/2014/main" id="{F0D23EE3-D0E5-4847-B0A4-E18F07E0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230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Borrow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26097355-93E6-4654-A974-DDD1336D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562100"/>
            <a:ext cx="2654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23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step-text-2">
            <a:extLst xmlns:a="http://schemas.openxmlformats.org/drawingml/2006/main">
              <a:ext uri="{FF2B5EF4-FFF2-40B4-BE49-F238E27FC236}">
                <a16:creationId xmlns:a16="http://schemas.microsoft.com/office/drawing/2014/main" id="{0A3BE6A2-B369-488A-BAB0-872EF845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71650"/>
            <a:ext cx="230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Receive</a:t>
            </a:r>
          </a:p>
        </p:txBody>
      </p:sp>
      <p:sp>
        <p:nvSpPr>
          <p:cNvPr id="10" name="step-3">
            <a:extLst xmlns:a="http://schemas.openxmlformats.org/drawingml/2006/main">
              <a:ext uri="{FF2B5EF4-FFF2-40B4-BE49-F238E27FC236}">
                <a16:creationId xmlns:a16="http://schemas.microsoft.com/office/drawing/2014/main" id="{9371FF74-8A4A-44A1-8F4B-051444B4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62100"/>
            <a:ext cx="2654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6E6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step-text-3">
            <a:extLst xmlns:a="http://schemas.openxmlformats.org/drawingml/2006/main">
              <a:ext uri="{FF2B5EF4-FFF2-40B4-BE49-F238E27FC236}">
                <a16:creationId xmlns:a16="http://schemas.microsoft.com/office/drawing/2014/main" id="{5F7DA665-ECE4-4BD8-9EA0-A8AC24A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71650"/>
            <a:ext cx="230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Repay</a:t>
            </a:r>
          </a:p>
        </p:txBody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D4A934E1-28A2-41F4-883B-58D3CC39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900" y="1562100"/>
            <a:ext cx="2654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23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step-text-4">
            <a:extLst xmlns:a="http://schemas.openxmlformats.org/drawingml/2006/main">
              <a:ext uri="{FF2B5EF4-FFF2-40B4-BE49-F238E27FC236}">
                <a16:creationId xmlns:a16="http://schemas.microsoft.com/office/drawing/2014/main" id="{9C409880-6342-431A-B84A-5CA14CDC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771650"/>
            <a:ext cx="230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Unlock</a:t>
            </a:r>
          </a:p>
        </p:txBody>
      </p:sp>
      <p:sp>
        <p:nvSpPr>
          <p:cNvPr id="14" name="step-5">
            <a:extLst xmlns:a="http://schemas.openxmlformats.org/drawingml/2006/main">
              <a:ext uri="{FF2B5EF4-FFF2-40B4-BE49-F238E27FC236}">
                <a16:creationId xmlns:a16="http://schemas.microsoft.com/office/drawing/2014/main" id="{28F18499-8237-4FC7-9584-0C783301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600" y="1562100"/>
            <a:ext cx="2654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23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step-text-5">
            <a:extLst xmlns:a="http://schemas.openxmlformats.org/drawingml/2006/main">
              <a:ext uri="{FF2B5EF4-FFF2-40B4-BE49-F238E27FC236}">
                <a16:creationId xmlns:a16="http://schemas.microsoft.com/office/drawing/2014/main" id="{1B821F0B-11E4-4463-801C-4BE0FA9D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1771650"/>
            <a:ext cx="230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Disclose</a:t>
            </a:r>
          </a:p>
        </p:txBody>
      </p:sp>
      <p:sp>
        <p:nvSpPr>
          <p:cNvPr id="16" name="flow-claim">
            <a:extLst xmlns:a="http://schemas.openxmlformats.org/drawingml/2006/main">
              <a:ext uri="{FF2B5EF4-FFF2-40B4-BE49-F238E27FC236}">
                <a16:creationId xmlns:a16="http://schemas.microsoft.com/office/drawing/2014/main" id="{D87100B3-10CF-483D-9CD1-3DE0D36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24396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2850">
                <a:solidFill>
                  <a:srgbClr val="EAF2F8"/>
                </a:solidFill>
                <a:latin typeface="Aptos"/>
                <a:ea typeface="Aptos"/>
                <a:cs typeface="Aptos"/>
              </a:rPr>
              <a:t>Behind each step, the protocol changes which public observer can link what. The product should feel like lending; the architecture absorbs the privacy complexity.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81469DF5-C582-4A9F-B8B3-2E9EF9FF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16687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7890A6"/>
                </a:solidFill>
                <a:latin typeface="Aptos"/>
                <a:ea typeface="Aptos"/>
                <a:cs typeface="Aptos"/>
              </a:rPr>
              <a:t>MVP product story</a:t>
            </a:r>
          </a:p>
        </p:txBody>
      </p:sp>
    </p:spTree>
    <p:extLst>
      <p:ext uri="{BB962C8B-B14F-4D97-AF65-F5344CB8AC3E}">
        <p14:creationId xmlns:p14="http://schemas.microsoft.com/office/powerpoint/2010/main" val="7082642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A52516E-AB2D-43A5-82D0-1083F2F2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9235508B-5A14-4771-9EDA-4B9EFA4A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B3FD52-E8C1-41A8-BD51-34732B4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lending mechanics stay conservative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C6304FB3-9DF1-4FF9-9BD8-1C582019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public or bucketed borrow amount for deterministic LTV</a:t>
            </a:r>
          </a:p>
        </p:txBody>
      </p:sp>
      <p:sp>
        <p:nvSpPr>
          <p:cNvPr id="5" name="bullet-2">
            <a:extLst xmlns:a="http://schemas.openxmlformats.org/drawingml/2006/main">
              <a:ext uri="{FF2B5EF4-FFF2-40B4-BE49-F238E27FC236}">
                <a16:creationId xmlns:a16="http://schemas.microsoft.com/office/drawing/2014/main" id="{FEF2D48E-AFEF-4ADA-B589-9A29D99E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Kamino-style interest model</a:t>
            </a:r>
          </a:p>
        </p:txBody>
      </p:sp>
      <p:sp>
        <p:nvSpPr>
          <p:cNvPr id="6" name="bullet-3">
            <a:extLst xmlns:a="http://schemas.openxmlformats.org/drawingml/2006/main">
              <a:ext uri="{FF2B5EF4-FFF2-40B4-BE49-F238E27FC236}">
                <a16:creationId xmlns:a16="http://schemas.microsoft.com/office/drawing/2014/main" id="{E4AE5A25-02C9-4ACC-8DE6-D129C69B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full liquidation only for MVP</a:t>
            </a:r>
          </a:p>
        </p:txBody>
      </p:sp>
      <p:sp>
        <p:nvSpPr>
          <p:cNvPr id="7" name="bullet-4">
            <a:extLst xmlns:a="http://schemas.openxmlformats.org/drawingml/2006/main">
              <a:ext uri="{FF2B5EF4-FFF2-40B4-BE49-F238E27FC236}">
                <a16:creationId xmlns:a16="http://schemas.microsoft.com/office/drawing/2014/main" id="{0D1BEE95-AA46-409C-A987-160CE05B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minimum position size and reserve accounting</a:t>
            </a:r>
          </a:p>
        </p:txBody>
      </p:sp>
      <p:sp>
        <p:nvSpPr>
          <p:cNvPr id="8" name="safety-claim">
            <a:extLst xmlns:a="http://schemas.openxmlformats.org/drawingml/2006/main">
              <a:ext uri="{FF2B5EF4-FFF2-40B4-BE49-F238E27FC236}">
                <a16:creationId xmlns:a16="http://schemas.microsoft.com/office/drawing/2014/main" id="{965D7A05-C626-4F9E-A228-027B86CC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24000"/>
            <a:ext cx="8077200" cy="765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Privacy wraps the credit workflow. It does not replace solvency, liquidation, or bad-debt controls.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4A42C9C-44BF-474C-B282-0EE6DBBA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67850"/>
            <a:ext cx="16687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DeFi risk posture</a:t>
            </a:r>
          </a:p>
        </p:txBody>
      </p:sp>
    </p:spTree>
    <p:extLst>
      <p:ext uri="{BB962C8B-B14F-4D97-AF65-F5344CB8AC3E}">
        <p14:creationId xmlns:p14="http://schemas.microsoft.com/office/powerpoint/2010/main" val="2650948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E252159-BC70-411D-B306-D3132A3C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E3FBC3F4-BAD9-427C-8B22-DA4104BB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022E55-7A74-441F-8230-C0F7E211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Privacy claims, without overclaiming</a:t>
            </a:r>
          </a:p>
        </p:txBody>
      </p:sp>
      <p:sp>
        <p:nvSpPr>
          <p:cNvPr id="4" name="hidden-label">
            <a:extLst xmlns:a="http://schemas.openxmlformats.org/drawingml/2006/main">
              <a:ext uri="{FF2B5EF4-FFF2-40B4-BE49-F238E27FC236}">
                <a16:creationId xmlns:a16="http://schemas.microsoft.com/office/drawing/2014/main" id="{1368638C-10B4-4910-AC8D-FB9D8D09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807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CC7D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CC7D9"/>
                </a:solidFill>
                <a:latin typeface="Aptos"/>
                <a:ea typeface="Aptos"/>
                <a:cs typeface="Aptos"/>
              </a:rPr>
              <a:t>Hidden</a:t>
            </a:r>
          </a:p>
        </p:txBody>
      </p:sp>
      <p:sp>
        <p:nvSpPr>
          <p:cNvPr id="5" name="bullet-1">
            <a:extLst xmlns:a="http://schemas.openxmlformats.org/drawingml/2006/main">
              <a:ext uri="{FF2B5EF4-FFF2-40B4-BE49-F238E27FC236}">
                <a16:creationId xmlns:a16="http://schemas.microsoft.com/office/drawing/2014/main" id="{31B1E66D-6D8C-4788-BF1E-DFCA599B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depositor to commitment</a:t>
            </a:r>
          </a:p>
        </p:txBody>
      </p:sp>
      <p:sp>
        <p:nvSpPr>
          <p:cNvPr id="6" name="bullet-2">
            <a:extLst xmlns:a="http://schemas.openxmlformats.org/drawingml/2006/main">
              <a:ext uri="{FF2B5EF4-FFF2-40B4-BE49-F238E27FC236}">
                <a16:creationId xmlns:a16="http://schemas.microsoft.com/office/drawing/2014/main" id="{5B29BBAC-B53B-45D2-9ADA-1A4BA106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borrower to loan</a:t>
            </a:r>
          </a:p>
        </p:txBody>
      </p:sp>
      <p:sp>
        <p:nvSpPr>
          <p:cNvPr id="7" name="bullet-3">
            <a:extLst xmlns:a="http://schemas.openxmlformats.org/drawingml/2006/main">
              <a:ext uri="{FF2B5EF4-FFF2-40B4-BE49-F238E27FC236}">
                <a16:creationId xmlns:a16="http://schemas.microsoft.com/office/drawing/2014/main" id="{C92E6DBB-C95A-4BD1-8A6A-ECB01A3B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collateral note identity</a:t>
            </a:r>
          </a:p>
        </p:txBody>
      </p:sp>
      <p:sp>
        <p:nvSpPr>
          <p:cNvPr id="8" name="bullet-4">
            <a:extLst xmlns:a="http://schemas.openxmlformats.org/drawingml/2006/main">
              <a:ext uri="{FF2B5EF4-FFF2-40B4-BE49-F238E27FC236}">
                <a16:creationId xmlns:a16="http://schemas.microsoft.com/office/drawing/2014/main" id="{AC8B8F52-2CFF-49AB-9986-9E603E2A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repayment graph in Full Privacy mode</a:t>
            </a:r>
          </a:p>
        </p:txBody>
      </p:sp>
      <p:sp>
        <p:nvSpPr>
          <p:cNvPr id="9" name="bullet-5">
            <a:extLst xmlns:a="http://schemas.openxmlformats.org/drawingml/2006/main">
              <a:ext uri="{FF2B5EF4-FFF2-40B4-BE49-F238E27FC236}">
                <a16:creationId xmlns:a16="http://schemas.microsoft.com/office/drawing/2014/main" id="{8C794C26-AD96-493A-B6AD-79A76616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output wallet identity</a:t>
            </a:r>
          </a:p>
        </p:txBody>
      </p:sp>
      <p:sp>
        <p:nvSpPr>
          <p:cNvPr id="10" name="visible-label">
            <a:extLst xmlns:a="http://schemas.openxmlformats.org/drawingml/2006/main">
              <a:ext uri="{FF2B5EF4-FFF2-40B4-BE49-F238E27FC236}">
                <a16:creationId xmlns:a16="http://schemas.microsoft.com/office/drawing/2014/main" id="{7F51C9F4-239B-42DA-BCFB-4DB4AE47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43050"/>
            <a:ext cx="807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Visible by design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E8154BDB-EE4D-4E0E-AC8C-3B5E2D60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loan exists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AF9D12AB-AA6B-4A1E-93FC-133F4D1C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borrow amount or bucket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24E57E7E-9E44-47ED-BFAB-AA2FC46F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aggregate protocol state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95A5C2EA-E0D8-4C47-9F51-5D30629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9565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fallback mode warnings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654738C1-5C8E-4B16-825B-1CAE3E2F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67850"/>
            <a:ext cx="16687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7890A6"/>
                </a:solidFill>
                <a:latin typeface="Aptos"/>
                <a:ea typeface="Aptos"/>
                <a:cs typeface="Aptos"/>
              </a:rPr>
              <a:t>Credible privacy is specific</a:t>
            </a:r>
          </a:p>
        </p:txBody>
      </p:sp>
    </p:spTree>
    <p:extLst>
      <p:ext uri="{BB962C8B-B14F-4D97-AF65-F5344CB8AC3E}">
        <p14:creationId xmlns:p14="http://schemas.microsoft.com/office/powerpoint/2010/main" val="10218962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4CDE255-24B2-4A6A-85C8-89EC80BA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1CD30779-0BC7-4047-B8E6-75F8077B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522D0-0D08-40DD-9924-C118933A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Positioned as private lending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B6A51-96FA-448B-BA9F-7F4EE6E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65532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General privacy pools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B03F6-2692-482A-9382-B4652C86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66850"/>
            <a:ext cx="9810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lending state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C4FD5-BCA4-40CD-BD40-AD34B544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65532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Stealth address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49652-ACD4-4DEF-BA89-5509865F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67100"/>
            <a:ext cx="9810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Hide destinations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1D904-533B-4775-9A0B-E8D5448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65532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FHE lending prototypes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E20D9-9D75-4B4A-85DD-2CB82B27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48300"/>
            <a:ext cx="9810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Do not solve address and exit privacy alone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DAE37-216B-44DF-A017-EAFFE8C2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48550"/>
            <a:ext cx="65532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ShieldLend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59380-2BB3-43E0-9BC2-8F093987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448550"/>
            <a:ext cx="9810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Full lifecycle privacy around a conservative lending core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B35FEA9-AB7F-4391-A4FF-B289C79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67850"/>
            <a:ext cx="16687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Competitive narrative</a:t>
            </a:r>
          </a:p>
        </p:txBody>
      </p:sp>
    </p:spTree>
    <p:extLst>
      <p:ext uri="{BB962C8B-B14F-4D97-AF65-F5344CB8AC3E}">
        <p14:creationId xmlns:p14="http://schemas.microsoft.com/office/powerpoint/2010/main" val="637551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B0ED24B-F90E-49A0-9F3A-303D2B1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DF06B695-1BE1-452C-B63B-BF74737E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C3F657-B01C-4AA6-9BF9-2494C884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Demo arc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605E943E-7DE5-4A15-89F1-66530F29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668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deposit into shielded pool and save local note</a:t>
            </a:r>
          </a:p>
        </p:txBody>
      </p:sp>
      <p:sp>
        <p:nvSpPr>
          <p:cNvPr id="5" name="bullet-2">
            <a:extLst xmlns:a="http://schemas.openxmlformats.org/drawingml/2006/main">
              <a:ext uri="{FF2B5EF4-FFF2-40B4-BE49-F238E27FC236}">
                <a16:creationId xmlns:a16="http://schemas.microsoft.com/office/drawing/2014/main" id="{46D5BAB3-D8E6-4AE7-9A2A-96611DFB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668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borrow against hidden collateral note</a:t>
            </a:r>
          </a:p>
        </p:txBody>
      </p:sp>
      <p:sp>
        <p:nvSpPr>
          <p:cNvPr id="6" name="bullet-3">
            <a:extLst xmlns:a="http://schemas.openxmlformats.org/drawingml/2006/main">
              <a:ext uri="{FF2B5EF4-FFF2-40B4-BE49-F238E27FC236}">
                <a16:creationId xmlns:a16="http://schemas.microsoft.com/office/drawing/2014/main" id="{35E0AE09-DE01-4227-87FC-B780912D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668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receive disbursement at Umbra stealth address</a:t>
            </a:r>
          </a:p>
        </p:txBody>
      </p:sp>
      <p:sp>
        <p:nvSpPr>
          <p:cNvPr id="7" name="bullet-4">
            <a:extLst xmlns:a="http://schemas.openxmlformats.org/drawingml/2006/main">
              <a:ext uri="{FF2B5EF4-FFF2-40B4-BE49-F238E27FC236}">
                <a16:creationId xmlns:a16="http://schemas.microsoft.com/office/drawing/2014/main" id="{B9164E4B-EE53-4893-A89C-06339A0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668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repay with private payment receipt</a:t>
            </a:r>
          </a:p>
        </p:txBody>
      </p:sp>
      <p:sp>
        <p:nvSpPr>
          <p:cNvPr id="8" name="bullet-5">
            <a:extLst xmlns:a="http://schemas.openxmlformats.org/drawingml/2006/main">
              <a:ext uri="{FF2B5EF4-FFF2-40B4-BE49-F238E27FC236}">
                <a16:creationId xmlns:a16="http://schemas.microsoft.com/office/drawing/2014/main" id="{55AF51B9-8A33-4D5B-B779-6A67B22B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668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B8C7D9"/>
                </a:solidFill>
                <a:latin typeface="Aptos"/>
                <a:ea typeface="Aptos"/>
                <a:cs typeface="Aptos"/>
              </a:rPr>
              <a:t>• unlock collateral and export selected history</a:t>
            </a:r>
          </a:p>
        </p:txBody>
      </p:sp>
      <p:sp>
        <p:nvSpPr>
          <p:cNvPr id="9" name="demo-claim">
            <a:extLst xmlns:a="http://schemas.openxmlformats.org/drawingml/2006/main">
              <a:ext uri="{FF2B5EF4-FFF2-40B4-BE49-F238E27FC236}">
                <a16:creationId xmlns:a16="http://schemas.microsoft.com/office/drawing/2014/main" id="{63557535-FC73-4E25-905C-4F573103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2534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judge should see both privacy and lending correctness in one continuous flow.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814AE403-6CC3-499D-81C1-C7BE4014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6687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7890A6"/>
                </a:solidFill>
                <a:latin typeface="Aptos"/>
                <a:ea typeface="Aptos"/>
                <a:cs typeface="Aptos"/>
              </a:rPr>
              <a:t>Hackathon demo plan</a:t>
            </a:r>
          </a:p>
        </p:txBody>
      </p:sp>
    </p:spTree>
    <p:extLst>
      <p:ext uri="{BB962C8B-B14F-4D97-AF65-F5344CB8AC3E}">
        <p14:creationId xmlns:p14="http://schemas.microsoft.com/office/powerpoint/2010/main" val="10311557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4C987FE3-4BB6-48D2-8E09-8796DF5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bg">
            <a:extLst xmlns:a="http://schemas.openxmlformats.org/drawingml/2006/main">
              <a:ext uri="{FF2B5EF4-FFF2-40B4-BE49-F238E27FC236}">
                <a16:creationId xmlns:a16="http://schemas.microsoft.com/office/drawing/2014/main" id="{4A5A6E80-5930-4893-B19B-8EF67237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A7B39-7E0F-4328-81F3-DF4A41B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What we need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6863F-CDD1-4AE0-96A2-7FE6D25C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Hackathon MVP</a:t>
            </a:r>
          </a:p>
        </p:txBody>
      </p:sp>
      <p:sp>
        <p:nvSpPr>
          <p:cNvPr id="5" name="bullet-1">
            <a:extLst xmlns:a="http://schemas.openxmlformats.org/drawingml/2006/main">
              <a:ext uri="{FF2B5EF4-FFF2-40B4-BE49-F238E27FC236}">
                <a16:creationId xmlns:a16="http://schemas.microsoft.com/office/drawing/2014/main" id="{B4BE629B-61E1-4F0D-B00A-B2C1640C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Anchor programs</a:t>
            </a:r>
          </a:p>
        </p:txBody>
      </p:sp>
      <p:sp>
        <p:nvSpPr>
          <p:cNvPr id="6" name="bullet-2">
            <a:extLst xmlns:a="http://schemas.openxmlformats.org/drawingml/2006/main">
              <a:ext uri="{FF2B5EF4-FFF2-40B4-BE49-F238E27FC236}">
                <a16:creationId xmlns:a16="http://schemas.microsoft.com/office/drawing/2014/main" id="{1525561B-1291-4AB5-889F-D47162C8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updated circuits</a:t>
            </a:r>
          </a:p>
        </p:txBody>
      </p:sp>
      <p:sp>
        <p:nvSpPr>
          <p:cNvPr id="7" name="bullet-3">
            <a:extLst xmlns:a="http://schemas.openxmlformats.org/drawingml/2006/main">
              <a:ext uri="{FF2B5EF4-FFF2-40B4-BE49-F238E27FC236}">
                <a16:creationId xmlns:a16="http://schemas.microsoft.com/office/drawing/2014/main" id="{181FC81C-F478-4AA6-96AF-15E4C4E6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real protocol adapters</a:t>
            </a:r>
          </a:p>
        </p:txBody>
      </p:sp>
      <p:sp>
        <p:nvSpPr>
          <p:cNvPr id="8" name="bullet-4">
            <a:extLst xmlns:a="http://schemas.openxmlformats.org/drawingml/2006/main">
              <a:ext uri="{FF2B5EF4-FFF2-40B4-BE49-F238E27FC236}">
                <a16:creationId xmlns:a16="http://schemas.microsoft.com/office/drawing/2014/main" id="{DCF3C666-F339-4496-8E26-1E19E106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history + disclosure 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B5A47-ED8F-4A1B-AD41-3CAAF03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Support needed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CBC8D884-B16B-44D3-ADE4-A52B5535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8120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devnet access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4395CE09-211A-41EE-AB68-765B9407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privacy integration review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2500A1C4-6DD1-48F9-9F5C-E4AC7832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lending risk feedback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4203C81F-3E8D-4BF0-98C5-AC642E78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9565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pilot users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786EA0B7-D016-4184-82BB-EFD67586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67850"/>
            <a:ext cx="16687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Private lending needs a coordinated stack</a:t>
            </a:r>
          </a:p>
        </p:txBody>
      </p:sp>
    </p:spTree>
    <p:extLst>
      <p:ext uri="{BB962C8B-B14F-4D97-AF65-F5344CB8AC3E}">
        <p14:creationId xmlns:p14="http://schemas.microsoft.com/office/powerpoint/2010/main" val="1301360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2026-04-27T09:50:25.5610000Z</dcterms:created>
  <dcterms:modified xsi:type="dcterms:W3CDTF">2026-04-27T09:50:25.5610000Z</dcterms:modified>
</coreProperties>
</file>